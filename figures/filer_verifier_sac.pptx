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l"/>
            <a:r>
              <a:rPr sz="2400" b="1" i="0">
                <a:solidFill>
                  <a:srgbClr val="2A2A2A"/>
                </a:solidFill>
                <a:latin typeface="Calibri"/>
              </a:rPr>
              <a:t>Filer–Verifier line-level interaction with safety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2743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l"/>
            <a:r>
              <a:rPr sz="1200" b="0" i="1">
                <a:solidFill>
                  <a:srgbClr val="6A6A6A"/>
                </a:solidFill>
                <a:latin typeface="Cambria"/>
              </a:rPr>
              <a:t>Real case excerpt from TaxCalcBench (ty24).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291840" cy="384048"/>
          </a:xfrm>
          <a:prstGeom prst="rect">
            <a:avLst/>
          </a:prstGeom>
          <a:solidFill>
            <a:srgbClr val="2C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291840" cy="384048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291840" cy="1188720"/>
          </a:xfrm>
          <a:prstGeom prst="rect">
            <a:avLst/>
          </a:prstGeom>
          <a:solidFill>
            <a:srgbClr val="FAFAFA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1100" b="1" i="0">
                <a:solidFill>
                  <a:srgbClr val="2C5F73"/>
                </a:solidFill>
                <a:latin typeface="Calibri"/>
              </a:rPr>
              <a:t>Tax-form text  (excerpt)</a:t>
            </a:r>
          </a:p>
          <a:p>
            <a:pPr algn="l"/>
          </a:p>
          <a:p>
            <a:pPr algn="l"/>
            <a:r>
              <a:rPr sz="1000" b="0" i="0">
                <a:solidFill>
                  <a:srgbClr val="2A2A2A"/>
                </a:solidFill>
                <a:latin typeface="Consolas"/>
              </a:rPr>
              <a:t>Form 1040  →  Schedule 1</a:t>
            </a:r>
          </a:p>
          <a:p>
            <a:pPr algn="l"/>
            <a:r>
              <a:rPr sz="1000" b="0" i="0">
                <a:solidFill>
                  <a:srgbClr val="2A2A2A"/>
                </a:solidFill>
                <a:latin typeface="Consolas"/>
              </a:rPr>
              <a:t>Line 21:  Student loan interest</a:t>
            </a:r>
          </a:p>
          <a:p>
            <a:pPr algn="l"/>
            <a:r>
              <a:rPr sz="1000" b="0" i="0">
                <a:solidFill>
                  <a:srgbClr val="2A2A2A"/>
                </a:solidFill>
                <a:latin typeface="Consolas"/>
              </a:rPr>
              <a:t>          deduction</a:t>
            </a:r>
          </a:p>
          <a:p>
            <a:pPr algn="l"/>
            <a:r>
              <a:rPr sz="1000" b="0" i="0">
                <a:solidFill>
                  <a:srgbClr val="2A2A2A"/>
                </a:solidFill>
                <a:latin typeface="Consolas"/>
              </a:rPr>
              <a:t>          (IRC §221(b), max $2,500)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44368"/>
            <a:ext cx="3291840" cy="1417320"/>
          </a:xfrm>
          <a:prstGeom prst="rect">
            <a:avLst/>
          </a:prstGeom>
          <a:solidFill>
            <a:srgbClr val="FAFAFA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1100" b="1" i="0">
                <a:solidFill>
                  <a:srgbClr val="2C5F73"/>
                </a:solidFill>
                <a:latin typeface="Calibri"/>
              </a:rPr>
              <a:t>Input data  (input.json, abridged)</a:t>
            </a:r>
          </a:p>
          <a:p>
            <a:pPr algn="l"/>
          </a:p>
          <a:p>
            <a:pPr algn="l"/>
            <a:r>
              <a:rPr sz="1000" b="0" i="0">
                <a:solidFill>
                  <a:srgbClr val="2A2A2A"/>
                </a:solidFill>
                <a:latin typeface="Consolas"/>
              </a:rPr>
              <a:t>filing_status        : MFJ</a:t>
            </a:r>
          </a:p>
          <a:p>
            <a:pPr algn="l"/>
            <a:r>
              <a:rPr sz="1000" b="0" i="0">
                <a:solidFill>
                  <a:srgbClr val="2A2A2A"/>
                </a:solidFill>
                <a:latin typeface="Consolas"/>
              </a:rPr>
              <a:t>W-2 wages (Box 1)    : $15,111</a:t>
            </a:r>
          </a:p>
          <a:p>
            <a:pPr algn="l"/>
            <a:r>
              <a:rPr sz="1000" b="0" i="0">
                <a:solidFill>
                  <a:srgbClr val="2A2A2A"/>
                </a:solidFill>
                <a:latin typeface="Consolas"/>
              </a:rPr>
              <a:t>Schedule C net      : $23,210</a:t>
            </a:r>
          </a:p>
          <a:p>
            <a:pPr algn="l"/>
            <a:r>
              <a:rPr sz="1000" b="0" i="0">
                <a:solidFill>
                  <a:srgbClr val="2A2A2A"/>
                </a:solidFill>
                <a:latin typeface="Consolas"/>
              </a:rPr>
              <a:t>Student loan int.    : $3,000  ← 1098-E</a:t>
            </a:r>
          </a:p>
          <a:p>
            <a:pPr algn="l"/>
            <a:r>
              <a:rPr sz="1000" b="0" i="0">
                <a:solidFill>
                  <a:srgbClr val="2A2A2A"/>
                </a:solidFill>
                <a:latin typeface="Consolas"/>
              </a:rPr>
              <a:t>AGI (recomputed)     : $36,681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471416"/>
            <a:ext cx="3291840" cy="1691640"/>
          </a:xfrm>
          <a:prstGeom prst="rect">
            <a:avLst/>
          </a:prstGeom>
          <a:solidFill>
            <a:srgbClr val="FAFAFA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1100" b="1" i="0">
                <a:solidFill>
                  <a:srgbClr val="2C5F73"/>
                </a:solidFill>
                <a:latin typeface="Calibri"/>
              </a:rPr>
              <a:t>Filer prompt  (line-level)</a:t>
            </a:r>
          </a:p>
          <a:p>
            <a:pPr algn="l"/>
          </a:p>
          <a:p>
            <a:pPr algn="l"/>
            <a:r>
              <a:rPr sz="1000" b="0" i="0">
                <a:solidFill>
                  <a:srgbClr val="2A2A2A"/>
                </a:solidFill>
                <a:latin typeface="Consolas"/>
              </a:rPr>
              <a:t>System: output ONLY valid JSON</a:t>
            </a:r>
          </a:p>
          <a:p>
            <a:pPr algn="l"/>
            <a:r>
              <a:rPr sz="1000" b="0" i="0">
                <a:solidFill>
                  <a:srgbClr val="2A2A2A"/>
                </a:solidFill>
                <a:latin typeface="Consolas"/>
              </a:rPr>
              <a:t>        for the target line.</a:t>
            </a:r>
          </a:p>
          <a:p>
            <a:pPr algn="l"/>
            <a:r>
              <a:rPr sz="1000" b="0" i="0">
                <a:solidFill>
                  <a:srgbClr val="2A2A2A"/>
                </a:solidFill>
                <a:latin typeface="Consolas"/>
              </a:rPr>
              <a:t>User:</a:t>
            </a:r>
          </a:p>
          <a:p>
            <a:pPr algn="l"/>
            <a:r>
              <a:rPr sz="1000" b="0" i="0">
                <a:solidFill>
                  <a:srgbClr val="2A2A2A"/>
                </a:solidFill>
                <a:latin typeface="Consolas"/>
              </a:rPr>
              <a:t>  input         : &lt;input.json&gt;</a:t>
            </a:r>
          </a:p>
          <a:p>
            <a:pPr algn="l"/>
            <a:r>
              <a:rPr sz="1000" b="0" i="0">
                <a:solidFill>
                  <a:srgbClr val="2A2A2A"/>
                </a:solidFill>
                <a:latin typeface="Consolas"/>
              </a:rPr>
              <a:t>  target_line   : Sched. 1 / 21</a:t>
            </a:r>
          </a:p>
          <a:p>
            <a:pPr algn="l"/>
            <a:r>
              <a:rPr sz="1000" b="0" i="0">
                <a:solidFill>
                  <a:srgbClr val="2A2A2A"/>
                </a:solidFill>
                <a:latin typeface="Consolas"/>
              </a:rPr>
              <a:t>  context_so_far: [...prior lines...]</a:t>
            </a:r>
          </a:p>
          <a:p>
            <a:pPr algn="l"/>
            <a:r>
              <a:rPr sz="1000" b="0" i="0">
                <a:solidFill>
                  <a:srgbClr val="2A2A2A"/>
                </a:solidFill>
                <a:latin typeface="Consolas"/>
              </a:rPr>
              <a:t>Return: { form, line, amount,</a:t>
            </a:r>
          </a:p>
          <a:p>
            <a:pPr algn="l"/>
            <a:r>
              <a:rPr sz="1000" b="0" i="0">
                <a:solidFill>
                  <a:srgbClr val="2A2A2A"/>
                </a:solidFill>
                <a:latin typeface="Consolas"/>
              </a:rPr>
              <a:t>          rationale }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371600"/>
            <a:ext cx="18288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1371600"/>
            <a:ext cx="1828800" cy="86868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ctr"/>
            <a:r>
              <a:rPr sz="1400" b="1" i="0">
                <a:solidFill>
                  <a:srgbClr val="2C5F73"/>
                </a:solidFill>
                <a:latin typeface="Calibri"/>
              </a:rPr>
              <a:t>Filer</a:t>
            </a:r>
          </a:p>
          <a:p>
            <a:pPr algn="ctr"/>
            <a:r>
              <a:rPr sz="1600" b="0" i="1">
                <a:solidFill>
                  <a:srgbClr val="2A2A2A"/>
                </a:solidFill>
                <a:latin typeface="Cambria"/>
              </a:rPr>
              <a:t>G 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39535" y="1371600"/>
            <a:ext cx="18288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B45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9535" y="1371600"/>
            <a:ext cx="1828800" cy="86868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ctr"/>
            <a:r>
              <a:rPr sz="1400" b="1" i="0">
                <a:solidFill>
                  <a:srgbClr val="B45F33"/>
                </a:solidFill>
                <a:latin typeface="Calibri"/>
              </a:rPr>
              <a:t>Verifier</a:t>
            </a:r>
          </a:p>
          <a:p>
            <a:pPr algn="ctr"/>
            <a:r>
              <a:rPr sz="1600" b="0" i="1">
                <a:solidFill>
                  <a:srgbClr val="2A2A2A"/>
                </a:solidFill>
                <a:latin typeface="Cambria"/>
              </a:rPr>
              <a:t>V ᵛ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52160" y="1600200"/>
            <a:ext cx="487375" cy="0"/>
          </a:xfrm>
          <a:prstGeom prst="line">
            <a:avLst/>
          </a:prstGeom>
          <a:ln w="15875">
            <a:solidFill>
              <a:srgbClr val="2C5F7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852160" y="2011680"/>
            <a:ext cx="487375" cy="0"/>
          </a:xfrm>
          <a:prstGeom prst="line">
            <a:avLst/>
          </a:prstGeom>
          <a:ln w="15875">
            <a:solidFill>
              <a:srgbClr val="B45F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52160" y="1307592"/>
            <a:ext cx="487375" cy="2743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ctr"/>
            <a:r>
              <a:rPr sz="1100" b="0" i="1">
                <a:solidFill>
                  <a:srgbClr val="2C5F73"/>
                </a:solidFill>
                <a:latin typeface="Cambria"/>
              </a:rPr>
              <a:t>draft  xₗ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048256"/>
            <a:ext cx="487375" cy="2743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ctr"/>
            <a:r>
              <a:rPr sz="1100" b="0" i="1">
                <a:solidFill>
                  <a:srgbClr val="B45F33"/>
                </a:solidFill>
                <a:latin typeface="Cambria"/>
              </a:rPr>
              <a:t>safety case  Sₗ = (cₗ, gₗ, eₗ)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61407" y="3017520"/>
            <a:ext cx="2468880" cy="685800"/>
          </a:xfrm>
          <a:prstGeom prst="rect">
            <a:avLst/>
          </a:prstGeom>
          <a:solidFill>
            <a:srgbClr val="FAFAFA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1407" y="3017520"/>
            <a:ext cx="2468880" cy="68580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ctr"/>
            <a:r>
              <a:rPr sz="1100" b="1" i="0">
                <a:solidFill>
                  <a:srgbClr val="2A2A2A"/>
                </a:solidFill>
                <a:latin typeface="Calibri"/>
              </a:rPr>
              <a:t>Filer decision</a:t>
            </a:r>
          </a:p>
          <a:p>
            <a:pPr algn="ctr"/>
            <a:r>
              <a:rPr sz="1300" b="0" i="1">
                <a:solidFill>
                  <a:srgbClr val="2A2A2A"/>
                </a:solidFill>
                <a:latin typeface="Cambria"/>
              </a:rPr>
              <a:t>KEEP   xₗ        |        REVISE → zₗ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37760.0" y="2240280"/>
            <a:ext cx="0.0" cy="777240"/>
          </a:xfrm>
          <a:prstGeom prst="line">
            <a:avLst/>
          </a:prstGeom>
          <a:ln w="12700">
            <a:solidFill>
              <a:srgbClr val="2A2A2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983480" y="2286000"/>
            <a:ext cx="1371600" cy="2743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l"/>
            <a:r>
              <a:rPr sz="1000" b="0" i="1">
                <a:solidFill>
                  <a:srgbClr val="6A6A6A"/>
                </a:solidFill>
                <a:latin typeface="Cambria"/>
              </a:rPr>
              <a:t>uses Sₗ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2767" y="4206240"/>
            <a:ext cx="16916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2767" y="4206240"/>
            <a:ext cx="1691640" cy="64008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ctr"/>
            <a:r>
              <a:rPr sz="1100" b="1" i="0">
                <a:solidFill>
                  <a:srgbClr val="2C5F73"/>
                </a:solidFill>
                <a:latin typeface="Calibri"/>
              </a:rPr>
              <a:t>Filer reward</a:t>
            </a:r>
          </a:p>
          <a:p>
            <a:pPr algn="ctr"/>
            <a:r>
              <a:rPr sz="1200" b="0" i="1">
                <a:solidFill>
                  <a:srgbClr val="2A2A2A"/>
                </a:solidFill>
                <a:latin typeface="Cambria"/>
              </a:rPr>
              <a:t>Rᵍ = Sₓ  (or Sᵤ)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7287" y="4206240"/>
            <a:ext cx="16916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B45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87287" y="4206240"/>
            <a:ext cx="1691640" cy="64008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ctr"/>
            <a:r>
              <a:rPr sz="1100" b="1" i="0">
                <a:solidFill>
                  <a:srgbClr val="B45F33"/>
                </a:solidFill>
                <a:latin typeface="Calibri"/>
              </a:rPr>
              <a:t>Verifier reward</a:t>
            </a:r>
          </a:p>
          <a:p>
            <a:pPr algn="ctr"/>
            <a:r>
              <a:rPr sz="1200" b="0" i="1">
                <a:solidFill>
                  <a:srgbClr val="2A2A2A"/>
                </a:solidFill>
                <a:latin typeface="Cambria"/>
              </a:rPr>
              <a:t>Rᵛ = 𝟙[SAC ↔ wrong]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5158587.5" y="3703320"/>
            <a:ext cx="443484.0" cy="502920"/>
          </a:xfrm>
          <a:prstGeom prst="line">
            <a:avLst/>
          </a:prstGeom>
          <a:ln w="12700">
            <a:solidFill>
              <a:srgbClr val="2A2A2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589623.5" y="3703320"/>
            <a:ext cx="443484.0" cy="502920"/>
          </a:xfrm>
          <a:prstGeom prst="line">
            <a:avLst/>
          </a:prstGeom>
          <a:ln w="12700">
            <a:solidFill>
              <a:srgbClr val="2A2A2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931920" y="5029200"/>
            <a:ext cx="4327855" cy="54864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l"/>
            <a:r>
              <a:rPr sz="1000" b="0" i="1">
                <a:solidFill>
                  <a:srgbClr val="6A6A6A"/>
                </a:solidFill>
                <a:latin typeface="Cambria"/>
              </a:rPr>
              <a:t>One line ℓ — three transitions in a single rollout: filer drafts xₗ, verifier issues SAC Sₗ or NO_SAC, filer either keeps or revises. Both agents receive paired-action GRPO rewards.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42655" y="1188720"/>
            <a:ext cx="3291840" cy="384048"/>
          </a:xfrm>
          <a:prstGeom prst="rect">
            <a:avLst/>
          </a:prstGeom>
          <a:solidFill>
            <a:srgbClr val="B45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42655" y="1188720"/>
            <a:ext cx="3291840" cy="384048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SAC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42655" y="1645920"/>
            <a:ext cx="3291840" cy="1417320"/>
          </a:xfrm>
          <a:prstGeom prst="rect">
            <a:avLst/>
          </a:prstGeom>
          <a:solidFill>
            <a:srgbClr val="FAFAFA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1100" b="1" i="0">
                <a:solidFill>
                  <a:srgbClr val="B45F33"/>
                </a:solidFill>
                <a:latin typeface="Calibri"/>
              </a:rPr>
              <a:t>Generator draft  xₗ</a:t>
            </a:r>
          </a:p>
          <a:p>
            <a:pPr algn="l"/>
          </a:p>
          <a:p>
            <a:pPr algn="l"/>
            <a:r>
              <a:rPr sz="1000" b="0" i="0">
                <a:solidFill>
                  <a:srgbClr val="2A2A2A"/>
                </a:solidFill>
                <a:latin typeface="Consolas"/>
              </a:rPr>
              <a:t>{ "form": "Schedule 1",</a:t>
            </a:r>
          </a:p>
          <a:p>
            <a:pPr algn="l"/>
            <a:r>
              <a:rPr sz="1000" b="0" i="0">
                <a:solidFill>
                  <a:srgbClr val="2A2A2A"/>
                </a:solidFill>
                <a:latin typeface="Consolas"/>
              </a:rPr>
              <a:t>  "line": "21",</a:t>
            </a:r>
          </a:p>
          <a:p>
            <a:pPr algn="l"/>
            <a:r>
              <a:rPr sz="1000" b="0" i="0">
                <a:solidFill>
                  <a:srgbClr val="2A2A2A"/>
                </a:solidFill>
                <a:latin typeface="Consolas"/>
              </a:rPr>
              <a:t>  "amount": 3000,</a:t>
            </a:r>
          </a:p>
          <a:p>
            <a:pPr algn="l"/>
            <a:r>
              <a:rPr sz="1000" b="0" i="0">
                <a:solidFill>
                  <a:srgbClr val="2A2A2A"/>
                </a:solidFill>
                <a:latin typeface="Consolas"/>
              </a:rPr>
              <a:t>  "rationale":</a:t>
            </a:r>
          </a:p>
          <a:p>
            <a:pPr algn="l"/>
            <a:r>
              <a:rPr sz="1000" b="0" i="0">
                <a:solidFill>
                  <a:srgbClr val="2A2A2A"/>
                </a:solidFill>
                <a:latin typeface="Consolas"/>
              </a:rPr>
              <a:t>    "1098-E reports $3,000 of</a:t>
            </a:r>
          </a:p>
          <a:p>
            <a:pPr algn="l"/>
            <a:r>
              <a:rPr sz="1000" b="0" i="0">
                <a:solidFill>
                  <a:srgbClr val="2A2A2A"/>
                </a:solidFill>
                <a:latin typeface="Consolas"/>
              </a:rPr>
              <a:t>     student loan interest paid." 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42655" y="3172968"/>
            <a:ext cx="3291840" cy="594360"/>
          </a:xfrm>
          <a:prstGeom prst="rect">
            <a:avLst/>
          </a:prstGeom>
          <a:solidFill>
            <a:srgbClr val="FAFAFA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1100" b="1" i="0">
                <a:solidFill>
                  <a:srgbClr val="B45F33"/>
                </a:solidFill>
                <a:latin typeface="Calibri"/>
              </a:rPr>
              <a:t>cₗ   claim</a:t>
            </a:r>
          </a:p>
          <a:p>
            <a:pPr algn="l"/>
          </a:p>
          <a:p>
            <a:pPr algn="l"/>
            <a:r>
              <a:rPr sz="1100" b="0" i="1">
                <a:solidFill>
                  <a:srgbClr val="2A2A2A"/>
                </a:solidFill>
                <a:latin typeface="Calibri"/>
              </a:rPr>
              <a:t>“Line 21 exceeds its statutory cap.”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42655" y="3877056"/>
            <a:ext cx="3291840" cy="868680"/>
          </a:xfrm>
          <a:prstGeom prst="rect">
            <a:avLst/>
          </a:prstGeom>
          <a:solidFill>
            <a:srgbClr val="FAFAFA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1100" b="1" i="0">
                <a:solidFill>
                  <a:srgbClr val="B45F33"/>
                </a:solidFill>
                <a:latin typeface="Calibri"/>
              </a:rPr>
              <a:t>gₗ   grounding rule</a:t>
            </a:r>
          </a:p>
          <a:p>
            <a:pPr algn="l"/>
          </a:p>
          <a:p>
            <a:pPr algn="l"/>
            <a:r>
              <a:rPr sz="1100" b="0" i="1">
                <a:solidFill>
                  <a:srgbClr val="2A2A2A"/>
                </a:solidFill>
                <a:latin typeface="Calibri"/>
              </a:rPr>
              <a:t>“Deduction = min(amount paid, $2,500);</a:t>
            </a:r>
          </a:p>
          <a:p>
            <a:pPr algn="l"/>
            <a:r>
              <a:rPr sz="1100" b="0" i="1">
                <a:solidFill>
                  <a:srgbClr val="2A2A2A"/>
                </a:solidFill>
                <a:latin typeface="Calibri"/>
              </a:rPr>
              <a:t> the draft uses the amount paid only.”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42655" y="4855464"/>
            <a:ext cx="3291840" cy="1005840"/>
          </a:xfrm>
          <a:prstGeom prst="rect">
            <a:avLst/>
          </a:prstGeom>
          <a:solidFill>
            <a:srgbClr val="FAFAFA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1100" b="1" i="0">
                <a:solidFill>
                  <a:srgbClr val="B45F33"/>
                </a:solidFill>
                <a:latin typeface="Calibri"/>
              </a:rPr>
              <a:t>eₗ   numerical evidence</a:t>
            </a:r>
          </a:p>
          <a:p>
            <a:pPr algn="l"/>
          </a:p>
          <a:p>
            <a:pPr algn="l"/>
            <a:r>
              <a:rPr sz="1100" b="0" i="0">
                <a:solidFill>
                  <a:srgbClr val="2A2A2A"/>
                </a:solidFill>
                <a:latin typeface="Calibri"/>
              </a:rPr>
              <a:t>Paid (1098-E) = $3,000</a:t>
            </a:r>
          </a:p>
          <a:p>
            <a:pPr algn="l"/>
            <a:r>
              <a:rPr sz="1100" b="0" i="0">
                <a:solidFill>
                  <a:srgbClr val="2A2A2A"/>
                </a:solidFill>
                <a:latin typeface="Calibri"/>
              </a:rPr>
              <a:t>Cap (IRC §221(b)) = $2,500</a:t>
            </a:r>
          </a:p>
          <a:p>
            <a:pPr algn="l"/>
            <a:r>
              <a:rPr sz="1100" b="0" i="0">
                <a:solidFill>
                  <a:srgbClr val="2A2A2A"/>
                </a:solidFill>
                <a:latin typeface="Calibri"/>
              </a:rPr>
              <a:t>Expected = min($3,000, $2,500) = $2,500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42655" y="5971032"/>
            <a:ext cx="3291840" cy="502920"/>
          </a:xfrm>
          <a:prstGeom prst="rect">
            <a:avLst/>
          </a:prstGeom>
          <a:solidFill>
            <a:srgbClr val="FAFAFA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1100" b="1" i="0">
                <a:solidFill>
                  <a:srgbClr val="B45F33"/>
                </a:solidFill>
                <a:latin typeface="Calibri"/>
              </a:rPr>
              <a:t>Verdict</a:t>
            </a:r>
          </a:p>
          <a:p>
            <a:pPr algn="l"/>
          </a:p>
          <a:p>
            <a:pPr algn="l"/>
            <a:r>
              <a:rPr sz="1200" b="0" i="0">
                <a:solidFill>
                  <a:srgbClr val="2A2A2A"/>
                </a:solidFill>
                <a:latin typeface="Calibri"/>
              </a:rPr>
              <a:t>WRONG  →  SAC fires;  suggested fix: $2,500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